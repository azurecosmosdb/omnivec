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17830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0" y="24688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0" y="31546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38404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45262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81160" y="10972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17830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81160" y="24688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81160" y="31546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81160" y="38404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81160" y="45262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66960" y="10972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0" y="17830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24688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0" y="31546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38404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45262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52760" y="10972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52760" y="17830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52760" y="24688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52760" y="31546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52760" y="38404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52760" y="45262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38560" y="10972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38560" y="17830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38560" y="24688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38560" y="3154680"/>
            <a:ext cx="310896" cy="3108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38560" y="3840480"/>
            <a:ext cx="310896" cy="31089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38560" y="4526280"/>
            <a:ext cx="310896" cy="31089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C3E6"/>
                </a:solidFill>
                <a:latin typeface="Segoe UI"/>
              </a:rPr>
              <a:t>AZURE COSMOS 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828800"/>
            <a:ext cx="74980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7200" b="1" i="0">
                <a:solidFill>
                  <a:srgbClr val="FFFFFF"/>
                </a:solidFill>
                <a:latin typeface="Segoe UI"/>
              </a:rPr>
              <a:t>OmniVec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 i="0">
                <a:solidFill>
                  <a:srgbClr val="B9CDEC"/>
                </a:solidFill>
                <a:latin typeface="Segoe UI"/>
              </a:rPr>
              <a:t>Universal Vector Ingestion Platform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3840480"/>
            <a:ext cx="1828800" cy="64008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069080"/>
            <a:ext cx="7040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Segoe UI"/>
              </a:rPr>
              <a:t>Turn any data into AI-ready vector search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Segoe UI"/>
              </a:rPr>
              <a:t>in minutes, on Azure. No pipeline to build.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97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FA8CC"/>
                </a:solidFill>
                <a:latin typeface="Segoe UI"/>
              </a:rPr>
              <a:t>What it offers  ·  Use cases  ·  Why OmniVec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WHERE PROJECTS 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Your customers want RAG. The pipeline is the hard part.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36076"/>
                </a:solidFill>
                <a:latin typeface="Segoe UI"/>
              </a:rPr>
              <a:t>Everyone wants semantic search and grounded AI. Getting data reliably into a vector index is where weeks disappear — before any value 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77440"/>
            <a:ext cx="82296" cy="178308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505456"/>
            <a:ext cx="3191256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Custom glue per source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A new connector for every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Blob, Cosmos, Postgres, SQL.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Brittle and unowned.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3774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377440"/>
            <a:ext cx="82296" cy="178308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3191256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Model &amp; GPU sprawl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Text, image, PDF &amp; OCR each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need different models, GPUs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and API contracts.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3774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2377440"/>
            <a:ext cx="82296" cy="1783080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505456"/>
            <a:ext cx="3191256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Data goes stale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Docs change constantly.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Re-embedding &amp; dedup logic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gets reinvented each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4340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343400"/>
            <a:ext cx="82296" cy="1783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471416"/>
            <a:ext cx="3191256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Ops burden up front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Autoscaling, retries, health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and back-pressure — before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the first vector is searched.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434340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4343400"/>
            <a:ext cx="82296" cy="178308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471416"/>
            <a:ext cx="3191256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Slow to demo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Weeks of integration before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you can show a customer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anything working.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434340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4343400"/>
            <a:ext cx="82296" cy="178308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471416"/>
            <a:ext cx="3191256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Security to re-solve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Identity, secrets, RBAC and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network hardening land 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the engineering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C3E6"/>
                </a:solidFill>
                <a:latin typeface="Segoe UI"/>
              </a:rPr>
              <a:t>THE PITCH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Ship vector search — </a:t>
            </a:r>
            <a:r>
              <a:rPr sz="3400" b="1" i="0">
                <a:solidFill>
                  <a:srgbClr val="22C3E6"/>
                </a:solidFill>
                <a:latin typeface="Segoe UI"/>
              </a:rPr>
              <a:t>skip the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C5D6EF"/>
                </a:solidFill>
                <a:latin typeface="Segoe UI"/>
              </a:rPr>
              <a:t>OmniVec gives your customers a production vector-ingestion platform out of the box, so their engineers focus on the app — not the plumbing.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2670048" cy="2606040"/>
          </a:xfrm>
          <a:prstGeom prst="roundRect">
            <a:avLst>
              <a:gd name="adj" fmla="val 5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2752344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429000"/>
            <a:ext cx="2258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Minutes, not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9319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B7FFF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One command stands up the whole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B7FFF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platform. First vectors searchable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B7FFF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the same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514600"/>
            <a:ext cx="2670048" cy="2606040"/>
          </a:xfrm>
          <a:prstGeom prst="roundRect">
            <a:avLst>
              <a:gd name="adj" fmla="val 5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75888" y="2752344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&lt;/&gt;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3429000"/>
            <a:ext cx="2258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Zero glue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39319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2C3E6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Configure sources, models &amp;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2C3E6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destinations. OmniVec handles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2C3E6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extraction, chunking, retries,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514600"/>
            <a:ext cx="2670048" cy="2606040"/>
          </a:xfrm>
          <a:prstGeom prst="roundRect">
            <a:avLst>
              <a:gd name="adj" fmla="val 5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2" y="2752344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429000"/>
            <a:ext cx="2258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Works with your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9319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BC9A5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Any source, any vector store,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BC9A5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your model — Azure OpenAI or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BC9A5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self-hosted GPU. No lock-in.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514600"/>
            <a:ext cx="2670048" cy="2606040"/>
          </a:xfrm>
          <a:prstGeom prst="roundRect">
            <a:avLst>
              <a:gd name="adj" fmla="val 5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72016" y="2752344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3429000"/>
            <a:ext cx="2258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Production-grade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39319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Managed identity, RBAC, autoscaling,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health &amp; metrics — secure and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observable from day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What your customers can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89280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6"/>
            <a:ext cx="2569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Segoe UI"/>
              </a:rPr>
              <a:t>RAG &amp; copilots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32888"/>
            <a:ext cx="31181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Ground LLMs and chatbots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in enterprise knowledge.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91640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17136" y="189280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911096"/>
            <a:ext cx="2569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Segoe UI"/>
              </a:rPr>
              <a:t>Semantic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32888"/>
            <a:ext cx="31181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Search by meaning across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docs, tickets and wikis.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691640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89280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911096"/>
            <a:ext cx="2569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Segoe UI"/>
              </a:rPr>
              <a:t>Multi-modal doc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532888"/>
            <a:ext cx="31181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PDFs, scans and images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via OCR and vision models.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03320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" y="39044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922776"/>
            <a:ext cx="2569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Segoe UI"/>
              </a:rPr>
              <a:t>Always-fresh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544568"/>
            <a:ext cx="31181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Change feed re-embeds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as source data changes.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3703320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7136" y="39044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922776"/>
            <a:ext cx="2569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Segoe UI"/>
              </a:rPr>
              <a:t>Similarity &amp; recs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4544568"/>
            <a:ext cx="31181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Find related items,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deduplicate and cluster.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3703320"/>
            <a:ext cx="3529584" cy="18288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4736" y="39044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3922776"/>
            <a:ext cx="2569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B2E"/>
                </a:solidFill>
                <a:latin typeface="Segoe UI"/>
              </a:rPr>
              <a:t>Vectorize what you have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4" y="4544568"/>
            <a:ext cx="31181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Backfill databases &amp; blobs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into a searchable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WHAT'S IN THE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Everything to go from data to vectors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45920"/>
            <a:ext cx="82296" cy="173736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73936"/>
            <a:ext cx="3191256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Universal connectors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Blob, Cosmos DB, PostgreSQL,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MSSQL in → vector stores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45920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45920"/>
            <a:ext cx="82296" cy="173736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773936"/>
            <a:ext cx="3191256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Bring-your-own model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Azure OpenAI or self-hosted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GPU (BGE, CLIP, DSE-Qwen2).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645920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1645920"/>
            <a:ext cx="82296" cy="1737360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773936"/>
            <a:ext cx="3191256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Smart chunking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Truncate or overlap-chunk,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controlled per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66160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566160"/>
            <a:ext cx="82296" cy="1737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94176"/>
            <a:ext cx="3191256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Real-time sync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Cosmos change feed &amp; Event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Grid keep vectors current.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566160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3566160"/>
            <a:ext cx="82296" cy="173736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3694176"/>
            <a:ext cx="3191256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Three interfaces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Web UI, CLI and REST API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for every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3566160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73568" y="3566160"/>
            <a:ext cx="82296" cy="173736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3694176"/>
            <a:ext cx="3191256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Elastic &amp; cost-aware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Autoscaling workers;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>
                <a:solidFill>
                  <a:srgbClr val="536076"/>
                </a:solidFill>
                <a:latin typeface="Segoe UI"/>
              </a:rPr>
              <a:t>GPU scale-to-zero when idle.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MEETS DATA WHERE IT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Works with your data — no rip-and-replace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3246120" cy="13716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3246120" cy="82296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7FFF"/>
                </a:solidFill>
                <a:latin typeface="Segoe UI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Segoe UI"/>
              </a:rPr>
              <a:t>Azure Blob  ·  Cosmos DB  ·  PostgreSQL  ·  MSSQL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4800" y="2176272"/>
            <a:ext cx="411480" cy="310896"/>
          </a:xfrm>
          <a:prstGeom prst="chevron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645920"/>
            <a:ext cx="3246120" cy="13716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3246120" cy="82296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C3E6"/>
                </a:solidFill>
                <a:latin typeface="Segoe UI"/>
              </a:rP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488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Segoe UI"/>
              </a:rPr>
              <a:t>Azure OpenAI  ·  BGE · CLIP  ·  DSE-Qwen2</a:t>
            </a:r>
          </a:p>
        </p:txBody>
      </p:sp>
      <p:sp>
        <p:nvSpPr>
          <p:cNvPr id="17" name="Chevron 16"/>
          <p:cNvSpPr/>
          <p:nvPr/>
        </p:nvSpPr>
        <p:spPr>
          <a:xfrm>
            <a:off x="7863840" y="2176272"/>
            <a:ext cx="411480" cy="310896"/>
          </a:xfrm>
          <a:prstGeom prst="chevron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246120" cy="13716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645920"/>
            <a:ext cx="3246120" cy="82296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C9A5"/>
                </a:solidFill>
                <a:latin typeface="Segoe UI"/>
              </a:rPr>
              <a:t>VECTOR STORES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488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Segoe UI"/>
              </a:rPr>
              <a:t>Cosmos DB Vector  ·  pgvector  ·  MSSQL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37560"/>
            <a:ext cx="53492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500" b="1">
                <a:solidFill>
                  <a:srgbClr val="141B2E"/>
                </a:solidFill>
                <a:latin typeface="Segoe UI"/>
              </a:rPr>
              <a:t>Your model, your choice</a:t>
            </a:r>
            <a:r>
              <a:rPr sz="1500">
                <a:solidFill>
                  <a:srgbClr val="536076"/>
                </a:solidFill>
                <a:latin typeface="Segoe UI"/>
              </a:rPr>
              <a:t> — external APIs or GPUs in your own cluster.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500" b="1">
                <a:solidFill>
                  <a:srgbClr val="141B2E"/>
                </a:solidFill>
                <a:latin typeface="Segoe UI"/>
              </a:rPr>
              <a:t>No data lock-in</a:t>
            </a:r>
            <a:r>
              <a:rPr sz="1500">
                <a:solidFill>
                  <a:srgbClr val="536076"/>
                </a:solidFill>
                <a:latin typeface="Segoe UI"/>
              </a:rPr>
              <a:t> — vectors land in stores you already run.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500" b="1">
                <a:solidFill>
                  <a:srgbClr val="141B2E"/>
                </a:solidFill>
                <a:latin typeface="Segoe UI"/>
              </a:rPr>
              <a:t>Data can stay in-tenant</a:t>
            </a:r>
            <a:r>
              <a:rPr sz="1500">
                <a:solidFill>
                  <a:srgbClr val="536076"/>
                </a:solidFill>
                <a:latin typeface="Segoe UI"/>
              </a:rPr>
              <a:t> — self-host models so content never leaves.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500" b="1">
                <a:solidFill>
                  <a:srgbClr val="141B2E"/>
                </a:solidFill>
                <a:latin typeface="Segoe UI"/>
              </a:rPr>
              <a:t>Mix and match</a:t>
            </a:r>
            <a:r>
              <a:rPr sz="1500">
                <a:solidFill>
                  <a:srgbClr val="536076"/>
                </a:solidFill>
                <a:latin typeface="Segoe UI"/>
              </a:rPr>
              <a:t> — many sources &amp; destinations per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MORE THAN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Multi-modal, and smart about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82296" cy="233172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28216"/>
            <a:ext cx="5056632" cy="2112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Every modality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Text</a:t>
            </a:r>
            <a:r>
              <a:rPr sz="1400">
                <a:solidFill>
                  <a:srgbClr val="536076"/>
                </a:solidFill>
                <a:latin typeface="Segoe UI"/>
              </a:rPr>
              <a:t> — short fields to long documents.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Images</a:t>
            </a:r>
            <a:r>
              <a:rPr sz="1400">
                <a:solidFill>
                  <a:srgbClr val="536076"/>
                </a:solidFill>
                <a:latin typeface="Segoe UI"/>
              </a:rPr>
              <a:t> — CLIP embeddings for visual search.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PDF pages</a:t>
            </a:r>
            <a:r>
              <a:rPr sz="1400">
                <a:solidFill>
                  <a:srgbClr val="536076"/>
                </a:solidFill>
                <a:latin typeface="Segoe UI"/>
              </a:rPr>
              <a:t> — vision models read layout directly.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Scanned PDFs</a:t>
            </a:r>
            <a:r>
              <a:rPr sz="1400">
                <a:solidFill>
                  <a:srgbClr val="536076"/>
                </a:solidFill>
                <a:latin typeface="Segoe UI"/>
              </a:rPr>
              <a:t> — PaddleOCR extracts text, then embeds.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82296" cy="233172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728216"/>
            <a:ext cx="5056632" cy="2112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Smart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4028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Truncate</a:t>
            </a:r>
            <a:r>
              <a:rPr sz="1400">
                <a:solidFill>
                  <a:srgbClr val="536076"/>
                </a:solidFill>
                <a:latin typeface="Segoe UI"/>
              </a:rPr>
              <a:t> — one vector per document. Simplest.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Chunk</a:t>
            </a:r>
            <a:r>
              <a:rPr sz="1400">
                <a:solidFill>
                  <a:srgbClr val="536076"/>
                </a:solidFill>
                <a:latin typeface="Segoe UI"/>
              </a:rPr>
              <a:t> — overlapping splits by chars or tokens.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Store text</a:t>
            </a:r>
            <a:r>
              <a:rPr sz="1400">
                <a:solidFill>
                  <a:srgbClr val="536076"/>
                </a:solidFill>
                <a:latin typeface="Segoe UI"/>
              </a:rPr>
              <a:t> — keep chunk text alongside the vector.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Custom IDs</a:t>
            </a:r>
            <a:r>
              <a:rPr sz="1400">
                <a:solidFill>
                  <a:srgbClr val="536076"/>
                </a:solidFill>
                <a:latin typeface="Segoe UI"/>
              </a:rPr>
              <a:t> — stable patterns for citations &amp;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605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160520"/>
            <a:ext cx="82296" cy="1371600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288536"/>
            <a:ext cx="10543032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41B2E"/>
                </a:solidFill>
                <a:latin typeface="Segoe UI"/>
              </a:rPr>
              <a:t>Always up to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2B7FFF"/>
                </a:solidFill>
                <a:latin typeface="Segoe UI"/>
              </a:rPr>
              <a:t>—  </a:t>
            </a:r>
            <a:r>
              <a:rPr sz="1350" b="1">
                <a:solidFill>
                  <a:srgbClr val="141B2E"/>
                </a:solidFill>
                <a:latin typeface="Segoe UI"/>
              </a:rPr>
              <a:t>Inline mode</a:t>
            </a:r>
            <a:r>
              <a:rPr sz="1350">
                <a:solidFill>
                  <a:srgbClr val="536076"/>
                </a:solidFill>
                <a:latin typeface="Segoe UI"/>
              </a:rPr>
              <a:t> — embed in place, high throughput.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91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2B7FFF"/>
                </a:solidFill>
                <a:latin typeface="Segoe UI"/>
              </a:rPr>
              <a:t>—  </a:t>
            </a:r>
            <a:r>
              <a:rPr sz="1350" b="1">
                <a:solidFill>
                  <a:srgbClr val="141B2E"/>
                </a:solidFill>
                <a:latin typeface="Segoe UI"/>
              </a:rPr>
              <a:t>Queue mode</a:t>
            </a:r>
            <a:r>
              <a:rPr sz="1350">
                <a:solidFill>
                  <a:srgbClr val="536076"/>
                </a:solidFill>
                <a:latin typeface="Segoe UI"/>
              </a:rPr>
              <a:t> — durable, retryable, autoscaled.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FASTEST PATH TO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Deploy the whole platform in one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46504"/>
            <a:ext cx="10241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C3E6"/>
                </a:solidFill>
                <a:latin typeface="Segoe UI"/>
              </a:rPr>
              <a:t>$  azd up</a:t>
            </a:r>
            <a:r>
              <a:rPr sz="1250" b="0" i="0">
                <a:solidFill>
                  <a:srgbClr val="9FB6D8"/>
                </a:solidFill>
                <a:latin typeface="Segoe UI"/>
              </a:rPr>
              <a:t>      # provisions AKS, Cosmos DB, ACR, Key Vault, Storage, Service Bus, Event Grid — then deploys via Helm  (~15–25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880360"/>
            <a:ext cx="82296" cy="105156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008376"/>
            <a:ext cx="3191256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Same-day demos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536076"/>
                </a:solidFill>
                <a:latin typeface="Segoe UI"/>
              </a:rPr>
              <a:t>Stand up a customer POC in ~20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880360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880360"/>
            <a:ext cx="82296" cy="1051560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3008376"/>
            <a:ext cx="3191256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~$5–10/day default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536076"/>
                </a:solidFill>
                <a:latin typeface="Segoe UI"/>
              </a:rPr>
              <a:t>2× B4ms, serverless Cosmos, no GPU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2880360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8" y="2880360"/>
            <a:ext cx="82296" cy="105156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3008376"/>
            <a:ext cx="3191256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Turn-key teardown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536076"/>
                </a:solidFill>
                <a:latin typeface="Segoe UI"/>
              </a:rPr>
              <a:t>azd down --purge stops all charges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78224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078224"/>
            <a:ext cx="82296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206240"/>
            <a:ext cx="3191256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Repeatable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536076"/>
                </a:solidFill>
                <a:latin typeface="Segoe UI"/>
              </a:rPr>
              <a:t>Config saved as tags; redeploy anywhere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078224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4078224"/>
            <a:ext cx="82296" cy="105156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4206240"/>
            <a:ext cx="3191256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UI, CLI &amp; API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536076"/>
                </a:solidFill>
                <a:latin typeface="Segoe UI"/>
              </a:rPr>
              <a:t>Drive it however the team prefers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4078224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4078224"/>
            <a:ext cx="82296" cy="1051560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206240"/>
            <a:ext cx="3191256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Grows with them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>
                <a:solidFill>
                  <a:srgbClr val="536076"/>
                </a:solidFill>
                <a:latin typeface="Segoe UI"/>
              </a:rPr>
              <a:t>Add GPU models &amp; sources later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UNDER THE HOOD (BRIEFLY)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36076"/>
                </a:solidFill>
                <a:latin typeface="Segoe UI"/>
              </a:rPr>
              <a:t>A control plane you configure, a smart embedding router, and elastic workers — all on AKS, backed by Cosmos 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2487168" cy="82296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33472"/>
            <a:ext cx="21671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E"/>
                </a:solidFill>
                <a:latin typeface="Segoe UI"/>
              </a:rPr>
              <a:t>Your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2167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36076"/>
                </a:solidFill>
                <a:latin typeface="Segoe UI"/>
              </a:rPr>
              <a:t>Blob · Cosmos · SQL · Postgres</a:t>
            </a:r>
          </a:p>
        </p:txBody>
      </p:sp>
      <p:sp>
        <p:nvSpPr>
          <p:cNvPr id="13" name="Chevron 12"/>
          <p:cNvSpPr/>
          <p:nvPr/>
        </p:nvSpPr>
        <p:spPr>
          <a:xfrm>
            <a:off x="3328416" y="2907792"/>
            <a:ext cx="219456" cy="310896"/>
          </a:xfrm>
          <a:prstGeom prst="chevron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377440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2377440"/>
            <a:ext cx="2487168" cy="82296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633472"/>
            <a:ext cx="21671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E"/>
                </a:solidFill>
                <a:latin typeface="Segoe UI"/>
              </a:rPr>
              <a:t>OmniVec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035808"/>
            <a:ext cx="2167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36076"/>
                </a:solidFill>
                <a:latin typeface="Segoe UI"/>
              </a:rPr>
              <a:t>Configure &amp; orchestrate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36076"/>
                </a:solidFill>
                <a:latin typeface="Segoe UI"/>
              </a:rPr>
              <a:t>autoscaling workers</a:t>
            </a:r>
          </a:p>
        </p:txBody>
      </p:sp>
      <p:sp>
        <p:nvSpPr>
          <p:cNvPr id="18" name="Chevron 17"/>
          <p:cNvSpPr/>
          <p:nvPr/>
        </p:nvSpPr>
        <p:spPr>
          <a:xfrm>
            <a:off x="6071616" y="2907792"/>
            <a:ext cx="219456" cy="310896"/>
          </a:xfrm>
          <a:prstGeom prst="chevron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377440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377440"/>
            <a:ext cx="2487168" cy="82296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33472"/>
            <a:ext cx="21671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E"/>
                </a:solidFill>
                <a:latin typeface="Segoe UI"/>
              </a:rPr>
              <a:t>DocGrok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35808"/>
            <a:ext cx="2167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36076"/>
                </a:solidFill>
                <a:latin typeface="Segoe UI"/>
              </a:rPr>
              <a:t>Routes to the right model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36076"/>
                </a:solidFill>
                <a:latin typeface="Segoe UI"/>
              </a:rPr>
              <a:t>Azure OpenAI or GPU</a:t>
            </a:r>
          </a:p>
        </p:txBody>
      </p:sp>
      <p:sp>
        <p:nvSpPr>
          <p:cNvPr id="23" name="Chevron 22"/>
          <p:cNvSpPr/>
          <p:nvPr/>
        </p:nvSpPr>
        <p:spPr>
          <a:xfrm>
            <a:off x="8814816" y="2907792"/>
            <a:ext cx="219456" cy="310896"/>
          </a:xfrm>
          <a:prstGeom prst="chevron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0" y="2377440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2377440"/>
            <a:ext cx="2487168" cy="82296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633472"/>
            <a:ext cx="21671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B2E"/>
                </a:solidFill>
                <a:latin typeface="Segoe UI"/>
              </a:rPr>
              <a:t>Vector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035808"/>
            <a:ext cx="2167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36076"/>
                </a:solidFill>
                <a:latin typeface="Segoe UI"/>
              </a:rPr>
              <a:t>Searchable embeddings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36076"/>
                </a:solidFill>
                <a:latin typeface="Segoe UI"/>
              </a:rPr>
              <a:t>in your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Control plane</a:t>
            </a:r>
            <a:r>
              <a:rPr sz="1400">
                <a:solidFill>
                  <a:srgbClr val="536076"/>
                </a:solidFill>
                <a:latin typeface="Segoe UI"/>
              </a:rPr>
              <a:t> — FastAPI API + a lightweight controller track sources, jobs &amp; metrics in Cosmos DB.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Embedding router (DocGrok)</a:t>
            </a:r>
            <a:r>
              <a:rPr sz="1400">
                <a:solidFill>
                  <a:srgbClr val="536076"/>
                </a:solidFill>
                <a:latin typeface="Segoe UI"/>
              </a:rPr>
              <a:t> — discovers models, runs PDF→OCR→text pipelines, parks idle GPUs.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B7FFF"/>
                </a:solidFill>
                <a:latin typeface="Segoe UI"/>
              </a:rPr>
              <a:t>—  </a:t>
            </a:r>
            <a:r>
              <a:rPr sz="1400" b="1">
                <a:solidFill>
                  <a:srgbClr val="141B2E"/>
                </a:solidFill>
                <a:latin typeface="Segoe UI"/>
              </a:rPr>
              <a:t>Change capture</a:t>
            </a:r>
            <a:r>
              <a:rPr sz="1400">
                <a:solidFill>
                  <a:srgbClr val="536076"/>
                </a:solidFill>
                <a:latin typeface="Segoe UI"/>
              </a:rPr>
              <a:t> — a .NET change-feed processor keeps embeddings in sync in real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ENTERPRISE-READY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Production-grade by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529584" cy="1600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82296" cy="16002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28216"/>
            <a:ext cx="3191256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Secure identity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Workload Identity federation —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no secrets stored in pods.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00200"/>
            <a:ext cx="3529584" cy="1600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00200"/>
            <a:ext cx="82296" cy="1600200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728216"/>
            <a:ext cx="3191256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Data stays yours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Self-host models so content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never leaves your tenant.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600200"/>
            <a:ext cx="3529584" cy="1600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1600200"/>
            <a:ext cx="82296" cy="16002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728216"/>
            <a:ext cx="3191256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Fine-grained RBAC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Cosmos native RBAC; keys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held in Azure Key Vault.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64992"/>
            <a:ext cx="3529584" cy="1600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364992"/>
            <a:ext cx="82296" cy="1600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493008"/>
            <a:ext cx="3191256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Elastic scale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Workers 1–10; change feed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matches Cosmos partitions.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364992"/>
            <a:ext cx="3529584" cy="1600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3364992"/>
            <a:ext cx="82296" cy="16002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3493008"/>
            <a:ext cx="3191256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Observable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Health endpoints, per-pipeline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metrics and UI dashboards.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3364992"/>
            <a:ext cx="3529584" cy="1600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73568" y="3364992"/>
            <a:ext cx="82296" cy="1600200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3493008"/>
            <a:ext cx="3191256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41B2E"/>
                </a:solidFill>
                <a:latin typeface="Segoe UI"/>
              </a:rPr>
              <a:t>Threat-modelled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Documented STRIDE model,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536076"/>
                </a:solidFill>
                <a:latin typeface="Segoe UI"/>
              </a:rPr>
              <a:t>reviewed on a 6-month 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7FFF"/>
                </a:solidFill>
                <a:latin typeface="Segoe UI"/>
              </a:rPr>
              <a:t>WHY OMNIVEC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B2E"/>
                </a:solidFill>
                <a:latin typeface="Segoe UI"/>
              </a:rPr>
              <a:t>Build it yourself  vs.  OmniVec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5349240" cy="3977639"/>
          </a:xfrm>
          <a:prstGeom prst="roundRect">
            <a:avLst>
              <a:gd name="adj" fmla="val 4000"/>
            </a:avLst>
          </a:prstGeom>
          <a:solidFill>
            <a:srgbClr val="E7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5349240" cy="640080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46504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BUILD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68880"/>
            <a:ext cx="4709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06A6A"/>
                </a:solidFill>
                <a:latin typeface="Segoe UI"/>
              </a:rPr>
              <a:t>✕  </a:t>
            </a:r>
            <a:r>
              <a:rPr sz="1400">
                <a:solidFill>
                  <a:srgbClr val="141B2E"/>
                </a:solidFill>
                <a:latin typeface="Segoe UI"/>
              </a:rPr>
              <a:t>Weeks of custom glue code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06A6A"/>
                </a:solidFill>
                <a:latin typeface="Segoe UI"/>
              </a:rPr>
              <a:t>✕  </a:t>
            </a:r>
            <a:r>
              <a:rPr sz="1400">
                <a:solidFill>
                  <a:srgbClr val="141B2E"/>
                </a:solidFill>
                <a:latin typeface="Segoe UI"/>
              </a:rPr>
              <a:t>A new connector per data source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06A6A"/>
                </a:solidFill>
                <a:latin typeface="Segoe UI"/>
              </a:rPr>
              <a:t>✕  </a:t>
            </a:r>
            <a:r>
              <a:rPr sz="1400">
                <a:solidFill>
                  <a:srgbClr val="141B2E"/>
                </a:solidFill>
                <a:latin typeface="Segoe UI"/>
              </a:rPr>
              <a:t>Manual re-indexing when data changes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06A6A"/>
                </a:solidFill>
                <a:latin typeface="Segoe UI"/>
              </a:rPr>
              <a:t>✕  </a:t>
            </a:r>
            <a:r>
              <a:rPr sz="1400">
                <a:solidFill>
                  <a:srgbClr val="141B2E"/>
                </a:solidFill>
                <a:latin typeface="Segoe UI"/>
              </a:rPr>
              <a:t>DIY GPU hosting &amp; autoscaling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06A6A"/>
                </a:solidFill>
                <a:latin typeface="Segoe UI"/>
              </a:rPr>
              <a:t>✕  </a:t>
            </a:r>
            <a:r>
              <a:rPr sz="1400">
                <a:solidFill>
                  <a:srgbClr val="141B2E"/>
                </a:solidFill>
                <a:latin typeface="Segoe UI"/>
              </a:rPr>
              <a:t>You own security, RBAC &amp; networking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E06A6A"/>
                </a:solidFill>
                <a:latin typeface="Segoe UI"/>
              </a:rPr>
              <a:t>✕  </a:t>
            </a:r>
            <a:r>
              <a:rPr sz="1400">
                <a:solidFill>
                  <a:srgbClr val="141B2E"/>
                </a:solidFill>
                <a:latin typeface="Segoe UI"/>
              </a:rPr>
              <a:t>Hard to demo anything early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600200"/>
            <a:ext cx="5349240" cy="3977639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600200"/>
            <a:ext cx="5349240" cy="64008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746504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WITH OMNIVEC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468880"/>
            <a:ext cx="4709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BC9A5"/>
                </a:solidFill>
                <a:latin typeface="Segoe UI"/>
              </a:rPr>
              <a:t>✓  </a:t>
            </a:r>
            <a:r>
              <a:rPr sz="1400">
                <a:solidFill>
                  <a:srgbClr val="FFFFFF"/>
                </a:solidFill>
                <a:latin typeface="Segoe UI"/>
              </a:rPr>
              <a:t>Deploy the platform in ~20 minutes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BC9A5"/>
                </a:solidFill>
                <a:latin typeface="Segoe UI"/>
              </a:rPr>
              <a:t>✓  </a:t>
            </a:r>
            <a:r>
              <a:rPr sz="1400">
                <a:solidFill>
                  <a:srgbClr val="FFFFFF"/>
                </a:solidFill>
                <a:latin typeface="Segoe UI"/>
              </a:rPr>
              <a:t>Universal connectors, no per-source code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BC9A5"/>
                </a:solidFill>
                <a:latin typeface="Segoe UI"/>
              </a:rPr>
              <a:t>✓  </a:t>
            </a:r>
            <a:r>
              <a:rPr sz="1400">
                <a:solidFill>
                  <a:srgbClr val="FFFFFF"/>
                </a:solidFill>
                <a:latin typeface="Segoe UI"/>
              </a:rPr>
              <a:t>Real-time auto-sync via change feed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BC9A5"/>
                </a:solidFill>
                <a:latin typeface="Segoe UI"/>
              </a:rPr>
              <a:t>✓  </a:t>
            </a:r>
            <a:r>
              <a:rPr sz="1400">
                <a:solidFill>
                  <a:srgbClr val="FFFFFF"/>
                </a:solidFill>
                <a:latin typeface="Segoe UI"/>
              </a:rPr>
              <a:t>Managed GPUs + scale-to-zero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BC9A5"/>
                </a:solidFill>
                <a:latin typeface="Segoe UI"/>
              </a:rPr>
              <a:t>✓  </a:t>
            </a:r>
            <a:r>
              <a:rPr sz="1400">
                <a:solidFill>
                  <a:srgbClr val="FFFFFF"/>
                </a:solidFill>
                <a:latin typeface="Segoe UI"/>
              </a:rPr>
              <a:t>Secure &amp; observable out of the box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BC9A5"/>
                </a:solidFill>
                <a:latin typeface="Segoe UI"/>
              </a:rPr>
              <a:t>✓  </a:t>
            </a:r>
            <a:r>
              <a:rPr sz="1400">
                <a:solidFill>
                  <a:srgbClr val="FFFFFF"/>
                </a:solidFill>
                <a:latin typeface="Segoe UI"/>
              </a:rPr>
              <a:t>Customer demo the same 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C3E6"/>
                </a:solidFill>
                <a:latin typeface="Segoe UI"/>
              </a:rPr>
              <a:t>WHERE WE'RE HEADED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Roadmap &amp; future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28016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3529584" cy="9144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93975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Hardening to 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87751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B7FFF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Move beyond public preview: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B7FFF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stable APIs, fuller feature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74519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874519"/>
            <a:ext cx="3529584" cy="9144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093975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Network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587751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2C3E6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Private endpoints for Cosmos /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2C3E6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Blob / Key Vault / AOAI + WAF.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874519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1874519"/>
            <a:ext cx="3529584" cy="91440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093975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Zero-trust in-cluster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587751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C9A5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mTLS / service mesh and image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C9A5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signing (cosign) across AKS.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94759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94759"/>
            <a:ext cx="3529584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014215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Auto event provisioning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507991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Blob Event Grid subscriptions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wired up on pipeline create.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794759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794759"/>
            <a:ext cx="3529584" cy="91440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4014215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More connectors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4507991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B7FFF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Broaden source &amp; destination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B7FFF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coverage across the data estate.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3794759"/>
            <a:ext cx="3529584" cy="1737360"/>
          </a:xfrm>
          <a:prstGeom prst="roundRect">
            <a:avLst>
              <a:gd name="adj" fmla="val 6000"/>
            </a:avLst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3794759"/>
            <a:ext cx="3529584" cy="9144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4014215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Distribution &amp; DX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4507991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2C3E6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Homebrew tap for the CLI;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2C3E6"/>
                </a:solidFill>
                <a:latin typeface="Segoe UI"/>
              </a:rPr>
              <a:t>  </a:t>
            </a:r>
            <a:r>
              <a:rPr sz="1150">
                <a:solidFill>
                  <a:srgbClr val="C5D6EF"/>
                </a:solidFill>
                <a:latin typeface="Segoe UI"/>
              </a:rPr>
              <a:t>automated fuzz &amp; E2E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OmniVec  ·  Universal Vector Ingestion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3607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C3E6"/>
                </a:solidFill>
                <a:latin typeface="Segoe UI"/>
              </a:rPr>
              <a:t>THE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Any data source → embeddings → vector search,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deployed on Azure in a single command.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209544"/>
            <a:ext cx="219456" cy="219456"/>
          </a:xfrm>
          <a:prstGeom prst="ellipse">
            <a:avLst/>
          </a:prstGeom>
          <a:solidFill>
            <a:srgbClr val="2B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154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Universal  —  </a:t>
            </a:r>
            <a:r>
              <a:rPr sz="1600" b="0" i="0">
                <a:solidFill>
                  <a:srgbClr val="C5D6EF"/>
                </a:solidFill>
                <a:latin typeface="Segoe UI"/>
              </a:rPr>
              <a:t>One platform for every source, modality &amp; destination.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867912"/>
            <a:ext cx="219456" cy="21945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8130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Managed  —  </a:t>
            </a:r>
            <a:r>
              <a:rPr sz="1600" b="0" i="0">
                <a:solidFill>
                  <a:srgbClr val="C5D6EF"/>
                </a:solidFill>
                <a:latin typeface="Segoe UI"/>
              </a:rPr>
              <a:t>Change capture, chunking, retries &amp; scaling handled for you.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526280"/>
            <a:ext cx="219456" cy="219456"/>
          </a:xfrm>
          <a:prstGeom prst="ellipse">
            <a:avLst/>
          </a:prstGeom>
          <a:solidFill>
            <a:srgbClr val="1BC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4714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Fast to prove  —  </a:t>
            </a:r>
            <a:r>
              <a:rPr sz="1600" b="0" i="0">
                <a:solidFill>
                  <a:srgbClr val="C5D6EF"/>
                </a:solidFill>
                <a:latin typeface="Segoe UI"/>
              </a:rPr>
              <a:t>Stand up a working customer demo in ~20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40680"/>
            <a:ext cx="1828800" cy="54864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623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Get started:  </a:t>
            </a:r>
            <a:r>
              <a:rPr sz="1500" b="1" i="0">
                <a:solidFill>
                  <a:srgbClr val="22C3E6"/>
                </a:solidFill>
                <a:latin typeface="Segoe UI"/>
              </a:rPr>
              <a:t>github.com/AzureCosmosDB/OmniVec</a:t>
            </a:r>
            <a:r>
              <a:rPr sz="1500" b="0" i="0">
                <a:solidFill>
                  <a:srgbClr val="C5D6EF"/>
                </a:solidFill>
                <a:latin typeface="Segoe UI"/>
              </a:rPr>
              <a:t>   ·   azd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